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2" r:id="rId3"/>
    <p:sldId id="272" r:id="rId4"/>
    <p:sldId id="276" r:id="rId5"/>
    <p:sldId id="275" r:id="rId6"/>
    <p:sldId id="274" r:id="rId7"/>
    <p:sldId id="277" r:id="rId8"/>
    <p:sldId id="278" r:id="rId9"/>
    <p:sldId id="273" r:id="rId10"/>
    <p:sldId id="269" r:id="rId11"/>
    <p:sldId id="259" r:id="rId12"/>
    <p:sldId id="260" r:id="rId13"/>
    <p:sldId id="266" r:id="rId14"/>
    <p:sldId id="258" r:id="rId15"/>
    <p:sldId id="265" r:id="rId16"/>
    <p:sldId id="267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D7CAA1-2B68-4DD0-BEFD-83499743FE99}" v="23" dt="2025-12-26T22:05:05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6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Vineyard" userId="2e7d0a4c8a0d0ea3" providerId="LiveId" clId="{FF90CD20-9E3C-43F5-8D0C-5730904F4B55}"/>
    <pc:docChg chg="undo custSel addSld delSld modSld sldOrd">
      <pc:chgData name="Brian Vineyard" userId="2e7d0a4c8a0d0ea3" providerId="LiveId" clId="{FF90CD20-9E3C-43F5-8D0C-5730904F4B55}" dt="2025-12-26T22:12:48.158" v="7889"/>
      <pc:docMkLst>
        <pc:docMk/>
      </pc:docMkLst>
      <pc:sldChg chg="modSp mod">
        <pc:chgData name="Brian Vineyard" userId="2e7d0a4c8a0d0ea3" providerId="LiveId" clId="{FF90CD20-9E3C-43F5-8D0C-5730904F4B55}" dt="2025-12-26T18:27:31.526" v="6399" actId="20577"/>
        <pc:sldMkLst>
          <pc:docMk/>
          <pc:sldMk cId="3833054028" sldId="256"/>
        </pc:sldMkLst>
        <pc:spChg chg="mod">
          <ac:chgData name="Brian Vineyard" userId="2e7d0a4c8a0d0ea3" providerId="LiveId" clId="{FF90CD20-9E3C-43F5-8D0C-5730904F4B55}" dt="2025-12-07T19:41:31.126" v="271"/>
          <ac:spMkLst>
            <pc:docMk/>
            <pc:sldMk cId="3833054028" sldId="256"/>
            <ac:spMk id="2" creationId="{2A035FD9-5E91-E6AC-7788-EB9C3187BEBF}"/>
          </ac:spMkLst>
        </pc:spChg>
        <pc:spChg chg="mod">
          <ac:chgData name="Brian Vineyard" userId="2e7d0a4c8a0d0ea3" providerId="LiveId" clId="{FF90CD20-9E3C-43F5-8D0C-5730904F4B55}" dt="2025-12-26T18:27:31.526" v="6399" actId="20577"/>
          <ac:spMkLst>
            <pc:docMk/>
            <pc:sldMk cId="3833054028" sldId="256"/>
            <ac:spMk id="3" creationId="{90163A00-1571-D233-7818-46514FDFC5B0}"/>
          </ac:spMkLst>
        </pc:spChg>
      </pc:sldChg>
      <pc:sldChg chg="modSp mod ord">
        <pc:chgData name="Brian Vineyard" userId="2e7d0a4c8a0d0ea3" providerId="LiveId" clId="{FF90CD20-9E3C-43F5-8D0C-5730904F4B55}" dt="2025-12-26T21:52:59.736" v="7065"/>
        <pc:sldMkLst>
          <pc:docMk/>
          <pc:sldMk cId="3664247376" sldId="262"/>
        </pc:sldMkLst>
        <pc:spChg chg="mod">
          <ac:chgData name="Brian Vineyard" userId="2e7d0a4c8a0d0ea3" providerId="LiveId" clId="{FF90CD20-9E3C-43F5-8D0C-5730904F4B55}" dt="2025-12-07T19:41:50.103" v="275" actId="27636"/>
          <ac:spMkLst>
            <pc:docMk/>
            <pc:sldMk cId="3664247376" sldId="262"/>
            <ac:spMk id="2" creationId="{A296FB1E-2A42-DD5B-553C-FD5D46DB6813}"/>
          </ac:spMkLst>
        </pc:spChg>
        <pc:spChg chg="mod">
          <ac:chgData name="Brian Vineyard" userId="2e7d0a4c8a0d0ea3" providerId="LiveId" clId="{FF90CD20-9E3C-43F5-8D0C-5730904F4B55}" dt="2025-12-24T22:21:09.293" v="6389" actId="255"/>
          <ac:spMkLst>
            <pc:docMk/>
            <pc:sldMk cId="3664247376" sldId="262"/>
            <ac:spMk id="3" creationId="{258B631B-B018-C420-3F68-6A53BD5BB674}"/>
          </ac:spMkLst>
        </pc:spChg>
      </pc:sldChg>
      <pc:sldChg chg="del">
        <pc:chgData name="Brian Vineyard" userId="2e7d0a4c8a0d0ea3" providerId="LiveId" clId="{FF90CD20-9E3C-43F5-8D0C-5730904F4B55}" dt="2025-12-26T22:12:21.240" v="7887" actId="47"/>
        <pc:sldMkLst>
          <pc:docMk/>
          <pc:sldMk cId="1729926105" sldId="263"/>
        </pc:sldMkLst>
      </pc:sldChg>
      <pc:sldChg chg="ord">
        <pc:chgData name="Brian Vineyard" userId="2e7d0a4c8a0d0ea3" providerId="LiveId" clId="{FF90CD20-9E3C-43F5-8D0C-5730904F4B55}" dt="2025-12-26T22:12:48.158" v="7889"/>
        <pc:sldMkLst>
          <pc:docMk/>
          <pc:sldMk cId="3454479654" sldId="265"/>
        </pc:sldMkLst>
      </pc:sldChg>
      <pc:sldChg chg="modSp mod ord">
        <pc:chgData name="Brian Vineyard" userId="2e7d0a4c8a0d0ea3" providerId="LiveId" clId="{FF90CD20-9E3C-43F5-8D0C-5730904F4B55}" dt="2025-12-26T22:11:54.553" v="7884"/>
        <pc:sldMkLst>
          <pc:docMk/>
          <pc:sldMk cId="1283332888" sldId="269"/>
        </pc:sldMkLst>
        <pc:spChg chg="mod">
          <ac:chgData name="Brian Vineyard" userId="2e7d0a4c8a0d0ea3" providerId="LiveId" clId="{FF90CD20-9E3C-43F5-8D0C-5730904F4B55}" dt="2025-12-07T19:41:31.324" v="273" actId="27636"/>
          <ac:spMkLst>
            <pc:docMk/>
            <pc:sldMk cId="1283332888" sldId="269"/>
            <ac:spMk id="2" creationId="{6F41F595-472A-A99B-B4A2-D80983C4B707}"/>
          </ac:spMkLst>
        </pc:spChg>
      </pc:sldChg>
      <pc:sldChg chg="delSp mod ord">
        <pc:chgData name="Brian Vineyard" userId="2e7d0a4c8a0d0ea3" providerId="LiveId" clId="{FF90CD20-9E3C-43F5-8D0C-5730904F4B55}" dt="2025-12-26T20:58:01.326" v="7063"/>
        <pc:sldMkLst>
          <pc:docMk/>
          <pc:sldMk cId="2623737869" sldId="271"/>
        </pc:sldMkLst>
        <pc:picChg chg="del">
          <ac:chgData name="Brian Vineyard" userId="2e7d0a4c8a0d0ea3" providerId="LiveId" clId="{FF90CD20-9E3C-43F5-8D0C-5730904F4B55}" dt="2025-12-26T19:14:07.823" v="7061" actId="478"/>
          <ac:picMkLst>
            <pc:docMk/>
            <pc:sldMk cId="2623737869" sldId="271"/>
            <ac:picMk id="3" creationId="{B9D1CBAE-A4EA-487A-B41F-A5C6236FB712}"/>
          </ac:picMkLst>
        </pc:picChg>
      </pc:sldChg>
      <pc:sldChg chg="modSp mod ord">
        <pc:chgData name="Brian Vineyard" userId="2e7d0a4c8a0d0ea3" providerId="LiveId" clId="{FF90CD20-9E3C-43F5-8D0C-5730904F4B55}" dt="2025-12-26T22:12:07.698" v="7886" actId="5793"/>
        <pc:sldMkLst>
          <pc:docMk/>
          <pc:sldMk cId="2656439688" sldId="272"/>
        </pc:sldMkLst>
        <pc:spChg chg="mod">
          <ac:chgData name="Brian Vineyard" userId="2e7d0a4c8a0d0ea3" providerId="LiveId" clId="{FF90CD20-9E3C-43F5-8D0C-5730904F4B55}" dt="2025-12-26T22:12:07.698" v="7886" actId="5793"/>
          <ac:spMkLst>
            <pc:docMk/>
            <pc:sldMk cId="2656439688" sldId="272"/>
            <ac:spMk id="3" creationId="{7F36FA86-1A8E-0B80-9D83-BEC3EE66EB30}"/>
          </ac:spMkLst>
        </pc:spChg>
      </pc:sldChg>
      <pc:sldChg chg="ord">
        <pc:chgData name="Brian Vineyard" userId="2e7d0a4c8a0d0ea3" providerId="LiveId" clId="{FF90CD20-9E3C-43F5-8D0C-5730904F4B55}" dt="2025-12-26T22:11:47.737" v="7882"/>
        <pc:sldMkLst>
          <pc:docMk/>
          <pc:sldMk cId="4257203235" sldId="273"/>
        </pc:sldMkLst>
      </pc:sldChg>
      <pc:sldChg chg="addSp delSp modSp new mod">
        <pc:chgData name="Brian Vineyard" userId="2e7d0a4c8a0d0ea3" providerId="LiveId" clId="{FF90CD20-9E3C-43F5-8D0C-5730904F4B55}" dt="2025-12-26T18:45:04.726" v="6530" actId="1582"/>
        <pc:sldMkLst>
          <pc:docMk/>
          <pc:sldMk cId="561949047" sldId="274"/>
        </pc:sldMkLst>
        <pc:spChg chg="add mod">
          <ac:chgData name="Brian Vineyard" userId="2e7d0a4c8a0d0ea3" providerId="LiveId" clId="{FF90CD20-9E3C-43F5-8D0C-5730904F4B55}" dt="2025-12-24T21:27:44.937" v="4829" actId="20577"/>
          <ac:spMkLst>
            <pc:docMk/>
            <pc:sldMk cId="561949047" sldId="274"/>
            <ac:spMk id="2" creationId="{9DE2BCB8-A56E-9E46-362E-EE8DF49AD682}"/>
          </ac:spMkLst>
        </pc:spChg>
        <pc:spChg chg="add mod">
          <ac:chgData name="Brian Vineyard" userId="2e7d0a4c8a0d0ea3" providerId="LiveId" clId="{FF90CD20-9E3C-43F5-8D0C-5730904F4B55}" dt="2025-12-24T21:49:12.652" v="5368" actId="5793"/>
          <ac:spMkLst>
            <pc:docMk/>
            <pc:sldMk cId="561949047" sldId="274"/>
            <ac:spMk id="3" creationId="{9FC53FF6-2096-CB3C-B5FC-AC04042EEF07}"/>
          </ac:spMkLst>
        </pc:spChg>
        <pc:picChg chg="add mod">
          <ac:chgData name="Brian Vineyard" userId="2e7d0a4c8a0d0ea3" providerId="LiveId" clId="{FF90CD20-9E3C-43F5-8D0C-5730904F4B55}" dt="2025-12-26T18:45:04.726" v="6530" actId="1582"/>
          <ac:picMkLst>
            <pc:docMk/>
            <pc:sldMk cId="561949047" sldId="274"/>
            <ac:picMk id="5" creationId="{CEACFD0D-B002-7EF5-2BE5-6EB3D7130F3C}"/>
          </ac:picMkLst>
        </pc:picChg>
      </pc:sldChg>
      <pc:sldChg chg="addSp delSp modSp new mod">
        <pc:chgData name="Brian Vineyard" userId="2e7d0a4c8a0d0ea3" providerId="LiveId" clId="{FF90CD20-9E3C-43F5-8D0C-5730904F4B55}" dt="2025-12-24T22:18:58.391" v="6321" actId="20577"/>
        <pc:sldMkLst>
          <pc:docMk/>
          <pc:sldMk cId="3080383780" sldId="275"/>
        </pc:sldMkLst>
        <pc:spChg chg="add mod">
          <ac:chgData name="Brian Vineyard" userId="2e7d0a4c8a0d0ea3" providerId="LiveId" clId="{FF90CD20-9E3C-43F5-8D0C-5730904F4B55}" dt="2025-12-24T21:23:35.537" v="4698" actId="20577"/>
          <ac:spMkLst>
            <pc:docMk/>
            <pc:sldMk cId="3080383780" sldId="275"/>
            <ac:spMk id="4" creationId="{80B35A04-6F1A-3511-3FB0-5C4DC25267CC}"/>
          </ac:spMkLst>
        </pc:spChg>
        <pc:spChg chg="add mod">
          <ac:chgData name="Brian Vineyard" userId="2e7d0a4c8a0d0ea3" providerId="LiveId" clId="{FF90CD20-9E3C-43F5-8D0C-5730904F4B55}" dt="2025-12-24T22:18:58.391" v="6321" actId="20577"/>
          <ac:spMkLst>
            <pc:docMk/>
            <pc:sldMk cId="3080383780" sldId="275"/>
            <ac:spMk id="7" creationId="{90CAE582-2578-0AD0-878E-46ACD31349C1}"/>
          </ac:spMkLst>
        </pc:spChg>
        <pc:picChg chg="add mod">
          <ac:chgData name="Brian Vineyard" userId="2e7d0a4c8a0d0ea3" providerId="LiveId" clId="{FF90CD20-9E3C-43F5-8D0C-5730904F4B55}" dt="2025-12-24T21:04:40.962" v="3801" actId="14100"/>
          <ac:picMkLst>
            <pc:docMk/>
            <pc:sldMk cId="3080383780" sldId="275"/>
            <ac:picMk id="3" creationId="{C1BBADA5-9235-1CC8-67A2-7D33571F02CB}"/>
          </ac:picMkLst>
        </pc:picChg>
      </pc:sldChg>
      <pc:sldChg chg="addSp modSp new mod ord">
        <pc:chgData name="Brian Vineyard" userId="2e7d0a4c8a0d0ea3" providerId="LiveId" clId="{FF90CD20-9E3C-43F5-8D0C-5730904F4B55}" dt="2025-12-24T22:18:20.859" v="6300" actId="207"/>
        <pc:sldMkLst>
          <pc:docMk/>
          <pc:sldMk cId="278955093" sldId="276"/>
        </pc:sldMkLst>
        <pc:spChg chg="add mod">
          <ac:chgData name="Brian Vineyard" userId="2e7d0a4c8a0d0ea3" providerId="LiveId" clId="{FF90CD20-9E3C-43F5-8D0C-5730904F4B55}" dt="2025-12-24T22:05:13.059" v="5644" actId="20577"/>
          <ac:spMkLst>
            <pc:docMk/>
            <pc:sldMk cId="278955093" sldId="276"/>
            <ac:spMk id="4" creationId="{7DAE7E88-3438-16BA-9C65-330B2939092A}"/>
          </ac:spMkLst>
        </pc:spChg>
        <pc:spChg chg="add mod">
          <ac:chgData name="Brian Vineyard" userId="2e7d0a4c8a0d0ea3" providerId="LiveId" clId="{FF90CD20-9E3C-43F5-8D0C-5730904F4B55}" dt="2025-12-24T22:18:20.859" v="6300" actId="207"/>
          <ac:spMkLst>
            <pc:docMk/>
            <pc:sldMk cId="278955093" sldId="276"/>
            <ac:spMk id="6" creationId="{8D5CECD2-A295-326A-A3F7-997B2CE76F68}"/>
          </ac:spMkLst>
        </pc:spChg>
        <pc:picChg chg="add mod">
          <ac:chgData name="Brian Vineyard" userId="2e7d0a4c8a0d0ea3" providerId="LiveId" clId="{FF90CD20-9E3C-43F5-8D0C-5730904F4B55}" dt="2025-12-24T22:05:58.877" v="5647" actId="1076"/>
          <ac:picMkLst>
            <pc:docMk/>
            <pc:sldMk cId="278955093" sldId="276"/>
            <ac:picMk id="3" creationId="{02B374D1-4054-32D9-9514-97FBE63B71A9}"/>
          </ac:picMkLst>
        </pc:picChg>
      </pc:sldChg>
      <pc:sldChg chg="addSp modSp new mod">
        <pc:chgData name="Brian Vineyard" userId="2e7d0a4c8a0d0ea3" providerId="LiveId" clId="{FF90CD20-9E3C-43F5-8D0C-5730904F4B55}" dt="2025-12-26T18:56:49.554" v="7022" actId="20577"/>
        <pc:sldMkLst>
          <pc:docMk/>
          <pc:sldMk cId="3376522451" sldId="277"/>
        </pc:sldMkLst>
        <pc:spChg chg="mod">
          <ac:chgData name="Brian Vineyard" userId="2e7d0a4c8a0d0ea3" providerId="LiveId" clId="{FF90CD20-9E3C-43F5-8D0C-5730904F4B55}" dt="2025-12-26T18:47:17.881" v="6533" actId="2711"/>
          <ac:spMkLst>
            <pc:docMk/>
            <pc:sldMk cId="3376522451" sldId="277"/>
            <ac:spMk id="2" creationId="{F77AE902-76CD-DEAF-A425-32D6345A5307}"/>
          </ac:spMkLst>
        </pc:spChg>
        <pc:spChg chg="add mod">
          <ac:chgData name="Brian Vineyard" userId="2e7d0a4c8a0d0ea3" providerId="LiveId" clId="{FF90CD20-9E3C-43F5-8D0C-5730904F4B55}" dt="2025-12-26T18:56:49.554" v="7022" actId="20577"/>
          <ac:spMkLst>
            <pc:docMk/>
            <pc:sldMk cId="3376522451" sldId="277"/>
            <ac:spMk id="5" creationId="{A054F975-0E7F-B7E8-3449-23E9DC6685C6}"/>
          </ac:spMkLst>
        </pc:spChg>
        <pc:picChg chg="add mod">
          <ac:chgData name="Brian Vineyard" userId="2e7d0a4c8a0d0ea3" providerId="LiveId" clId="{FF90CD20-9E3C-43F5-8D0C-5730904F4B55}" dt="2025-12-26T18:48:53.202" v="6535" actId="14100"/>
          <ac:picMkLst>
            <pc:docMk/>
            <pc:sldMk cId="3376522451" sldId="277"/>
            <ac:picMk id="4" creationId="{78B1C764-B8CC-885E-F4B1-F47E6DBA8C56}"/>
          </ac:picMkLst>
        </pc:picChg>
      </pc:sldChg>
      <pc:sldChg chg="addSp delSp modSp new mod">
        <pc:chgData name="Brian Vineyard" userId="2e7d0a4c8a0d0ea3" providerId="LiveId" clId="{FF90CD20-9E3C-43F5-8D0C-5730904F4B55}" dt="2025-12-26T22:11:12.020" v="7880" actId="20577"/>
        <pc:sldMkLst>
          <pc:docMk/>
          <pc:sldMk cId="3334825088" sldId="278"/>
        </pc:sldMkLst>
        <pc:spChg chg="add del">
          <ac:chgData name="Brian Vineyard" userId="2e7d0a4c8a0d0ea3" providerId="LiveId" clId="{FF90CD20-9E3C-43F5-8D0C-5730904F4B55}" dt="2025-12-26T22:02:42.817" v="7075" actId="22"/>
          <ac:spMkLst>
            <pc:docMk/>
            <pc:sldMk cId="3334825088" sldId="278"/>
            <ac:spMk id="3" creationId="{4CBFD97F-4BD3-2F6A-5791-16F07D4160D4}"/>
          </ac:spMkLst>
        </pc:spChg>
        <pc:spChg chg="add mod">
          <ac:chgData name="Brian Vineyard" userId="2e7d0a4c8a0d0ea3" providerId="LiveId" clId="{FF90CD20-9E3C-43F5-8D0C-5730904F4B55}" dt="2025-12-26T22:04:19.365" v="7207" actId="20577"/>
          <ac:spMkLst>
            <pc:docMk/>
            <pc:sldMk cId="3334825088" sldId="278"/>
            <ac:spMk id="7" creationId="{8BD53FAE-3FAB-171E-F18D-FFBE6086D2C8}"/>
          </ac:spMkLst>
        </pc:spChg>
        <pc:spChg chg="add del mod">
          <ac:chgData name="Brian Vineyard" userId="2e7d0a4c8a0d0ea3" providerId="LiveId" clId="{FF90CD20-9E3C-43F5-8D0C-5730904F4B55}" dt="2025-12-26T22:05:14.506" v="7214" actId="478"/>
          <ac:spMkLst>
            <pc:docMk/>
            <pc:sldMk cId="3334825088" sldId="278"/>
            <ac:spMk id="9" creationId="{979CD1D3-DC4C-DDDB-7BA4-3288E194EAFC}"/>
          </ac:spMkLst>
        </pc:spChg>
        <pc:spChg chg="add mod">
          <ac:chgData name="Brian Vineyard" userId="2e7d0a4c8a0d0ea3" providerId="LiveId" clId="{FF90CD20-9E3C-43F5-8D0C-5730904F4B55}" dt="2025-12-26T22:11:12.020" v="7880" actId="20577"/>
          <ac:spMkLst>
            <pc:docMk/>
            <pc:sldMk cId="3334825088" sldId="278"/>
            <ac:spMk id="10" creationId="{862BBA41-C261-3D03-8BC0-284ADEA852D6}"/>
          </ac:spMkLst>
        </pc:spChg>
        <pc:picChg chg="add mod">
          <ac:chgData name="Brian Vineyard" userId="2e7d0a4c8a0d0ea3" providerId="LiveId" clId="{FF90CD20-9E3C-43F5-8D0C-5730904F4B55}" dt="2025-12-26T22:05:33.508" v="7216" actId="1582"/>
          <ac:picMkLst>
            <pc:docMk/>
            <pc:sldMk cId="3334825088" sldId="278"/>
            <ac:picMk id="5" creationId="{5539E4B1-0771-E0AB-23BB-6F61320F708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FAAE-59F7-6F69-98EC-62734920A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3CF78-7054-DF4D-0C52-D3CA307AD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A6D44-D192-174B-48A3-31125079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2C2F9-3F71-9254-6BE2-1DB221141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21F1D-96EE-D751-42A4-37EF5396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0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EF1E-99AD-8DB2-CC29-B5782B4B7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A1D79-D3FF-28AC-37DC-077DD2000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6D3A6-FDFA-35DD-97FB-C548F1B32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26D05-CA7E-0080-9899-4B5F8D039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DC84-DE16-D1A5-871F-CCA220F9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4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2A78-677B-43B5-3E95-E516B1D8D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CCB6A-37D4-1EE0-3E6B-ACBBFF633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ECE6D-B8AC-AC50-6E19-D56B3591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80046-F8DC-FDB2-57DF-39ADA3F2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76D42-0892-DCF7-BE4C-EAC3B4DD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0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D350-AEAF-A68F-9C34-FA3102DE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42E61-C113-A258-9972-8F164F59A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F55BD-312C-7A0F-FB26-0D9707E08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F437D-ABB2-5B06-38E0-74E4D2024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90990-9A46-EA4F-DEAE-EA432103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CE44F-4DD5-6DB0-54A6-5BB30EBD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1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DA331-E607-2026-A62A-42F35D57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CDC42-14F7-9870-D529-9EAFC2827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B6AAE-F98B-34DE-5847-E3F6FD2DF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82EE2-E5D0-19E2-6092-8D7B7B9A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B02EF-5BC2-FE60-41D2-EB4323385D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5AF357-BF11-A2A5-92F5-984C607B2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95897-C407-C6D2-93B5-E77D3C61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ED60A-E35F-EE3A-0243-0B97F644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8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473B-2C2F-D511-4A83-24B7576F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1DE82-88DE-A033-CD24-5AE64D994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02226-FC5A-2C94-5550-0296E9639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66CB1-E103-B821-65BF-E3913407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9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C4EF7-808E-54D2-FB42-728AFBA40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D5C2FA-7C11-37A8-A90A-33AEEF7B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FBF4A-F0C9-187E-B6F0-3B4A2264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4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497D-900C-1FC6-A616-5D7D705A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446C-593E-690B-BA12-A96E905F1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1FA57-5EBF-A04D-57EF-B849F4315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0E1DB8-194F-1D25-8E52-38C5F09C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67A05-2874-8239-42E5-1B93F4E9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40476-4DC3-BC9B-D72F-E3BF3AF5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4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6B83B-2951-0865-DF9C-823EDBD3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DC0F05-1914-FA0F-01FE-ADDC9376A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0DC97-1229-102A-4DA3-0C03CD9BD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6E786-F52D-16FD-5A6A-BFC99F50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7727A-BAC7-0328-18EA-D11C39E61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8279-28E0-1B63-CDA0-BC8EEBF4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1B75-2506-F8BB-2419-33650F75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87151-40FB-3E6D-2E62-5825F9A57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96AE9-1CFD-CE3B-3276-93847B5E3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22DE9-4AE5-3A3D-276E-95A20365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7808A-6C75-320D-34D9-CF20F312B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4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A8E28E-A876-7381-224D-ACF51E3BE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1113D-7EC1-55D0-B06B-FE3FE60C3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EAE5A-1F77-C8AF-1435-8C05480F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1B726-94CD-17E7-B712-270EF69B5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D095D-18E4-A69E-A44E-E2E40849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4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4BF430-AA5B-0A02-AB16-CDA643A9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13ECF-10C2-0F4F-2192-9C20464E2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F02A7-CA66-1D08-0E80-66EB05069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60EA7-6092-43CD-9316-F8A8F5340C1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1FE73-E355-679E-A201-C09E78B9E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264CE-8A5D-964E-6287-4EF025702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BCF82-17E0-4295-838C-E1321FFA4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4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aggle.com/datasets/gregorut/videogamesales/download?datasetVersionNumber=2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BuzzFeedNews/figure-skating-scores/tree/master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brian.vineyard/viz/netflix_16879639661060/Netflix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forum.enterprisedna.co/uploads/short-url/ckDRaJm1B5QAtCTMi6KojfS89ZB.xlsx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35FD9-5E91-E6AC-7788-EB9C3187BE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Brian Vineyard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163A00-1571-D233-7818-46514FDFC5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Analysis Portfolio and Report Samples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054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6FB1E-2A42-DD5B-553C-FD5D46DB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43934"/>
            <a:ext cx="9590550" cy="6096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4A586E"/>
                </a:solidFill>
              </a:rPr>
              <a:t>Skills and Experience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B631B-B018-C420-3F68-6A53BD5BB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1" y="990601"/>
            <a:ext cx="9590550" cy="545231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Data Analytics and Management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Organize and manage data for secure reporting as a shared central resource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Build relational data models optimized for efficiency and fast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Tight integration of reporting to individual department goals and metrics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Power BI Admin experience to manage security and user access privileges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Data Visualization and Reporting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Set up reports specific to needs of managers and stakeholders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Design pivot tables and DAX formulas to model data based on Key Performance Indicators (KPI)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Visuals designed using best practices to clearly convey findings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User Research and Interaction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 users and stakeholders with written forms for gathering requirements/specs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Administrative and Logistical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Regular cadence of gathering/assessing feedback to improve usability/functionality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Continuous improvements to existing reports based on user needs</a:t>
            </a:r>
          </a:p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Marginal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Skilled at presenting results in formal presentations to explain results and how to interact with reports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Technical documentation, help files, and knowledgebase content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247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AABA-47FE-4E17-31C4-B2A56294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395" y="118534"/>
            <a:ext cx="10304538" cy="524933"/>
          </a:xfrm>
        </p:spPr>
        <p:txBody>
          <a:bodyPr>
            <a:normAutofit/>
          </a:bodyPr>
          <a:lstStyle/>
          <a:p>
            <a:r>
              <a:rPr lang="en-US" sz="2000" dirty="0"/>
              <a:t>Work Samples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6FA86-1A8E-0B80-9D83-BEC3EE66EB30}"/>
              </a:ext>
            </a:extLst>
          </p:cNvPr>
          <p:cNvSpPr txBox="1"/>
          <p:nvPr/>
        </p:nvSpPr>
        <p:spPr>
          <a:xfrm>
            <a:off x="575733" y="838200"/>
            <a:ext cx="11294533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Power BI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Sacramento International Airport Passengers (Aug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PacketFabric Network Service Outages (Jan 2021 – Mar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California Wildfires and Structure Damage (Oct 2017 – Oct 2024)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Jira Issue Project Summary (2023 YTD)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CalPers</a:t>
            </a:r>
            <a:r>
              <a:rPr lang="en-US" sz="1400" dirty="0"/>
              <a:t> Local Contracting Agencies Funding Positions Report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International Skating Union (ISU) Ice Skating Competitions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Adventure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Maven Market</a:t>
            </a:r>
          </a:p>
          <a:p>
            <a:endParaRPr lang="en-US" sz="1400" dirty="0"/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Tableau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Netflix Movies and TV Shows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Superstore Financials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6439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B374D1-4054-32D9-9514-97FBE63B7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6" y="439154"/>
            <a:ext cx="10206059" cy="57548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AE7E88-3438-16BA-9C65-330B2939092A}"/>
              </a:ext>
            </a:extLst>
          </p:cNvPr>
          <p:cNvSpPr txBox="1"/>
          <p:nvPr/>
        </p:nvSpPr>
        <p:spPr>
          <a:xfrm>
            <a:off x="132348" y="78205"/>
            <a:ext cx="10735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Sacramento County Dept of Airports SMF Passengers Enplaned / Deplaned (August 2025)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CECD2-A295-326A-A3F7-997B2CE76F68}"/>
              </a:ext>
            </a:extLst>
          </p:cNvPr>
          <p:cNvSpPr txBox="1"/>
          <p:nvPr/>
        </p:nvSpPr>
        <p:spPr>
          <a:xfrm>
            <a:off x="10262935" y="439154"/>
            <a:ext cx="20072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Passenger Analysis </a:t>
            </a:r>
          </a:p>
          <a:p>
            <a:endParaRPr lang="en-US" sz="1200" dirty="0"/>
          </a:p>
          <a:p>
            <a:r>
              <a:rPr lang="en-US" sz="1200" b="1" dirty="0"/>
              <a:t>Client: Sacramento County</a:t>
            </a:r>
          </a:p>
          <a:p>
            <a:r>
              <a:rPr lang="en-US" sz="1200" b="1" dirty="0"/>
              <a:t>Dept of Airports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Features</a:t>
            </a:r>
            <a:r>
              <a:rPr lang="en-US" sz="1200" dirty="0"/>
              <a:t>: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Cards</a:t>
            </a:r>
            <a:r>
              <a:rPr lang="en-US" sz="1200" dirty="0"/>
              <a:t> for Key Support Metrics:</a:t>
            </a:r>
          </a:p>
          <a:p>
            <a:endParaRPr lang="en-US" sz="1200" dirty="0"/>
          </a:p>
          <a:p>
            <a:r>
              <a:rPr lang="en-US" sz="1200" dirty="0"/>
              <a:t>Total Enplaned / Deplaned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Aug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FY 2026 Year to Date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Bar Charts </a:t>
            </a:r>
            <a:r>
              <a:rPr lang="en-US" sz="1200" dirty="0"/>
              <a:t>show totals by Airline for: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Aug 2025 vs Aug 2024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FY 2025 vs. FY 2024</a:t>
            </a:r>
          </a:p>
          <a:p>
            <a:endParaRPr lang="en-US" sz="1200" dirty="0"/>
          </a:p>
          <a:p>
            <a:r>
              <a:rPr lang="en-US" sz="1200" dirty="0"/>
              <a:t>Report Features:</a:t>
            </a:r>
          </a:p>
          <a:p>
            <a:endParaRPr lang="en-US" sz="1200" dirty="0">
              <a:solidFill>
                <a:srgbClr val="0070C0"/>
              </a:solidFill>
            </a:endParaRPr>
          </a:p>
          <a:p>
            <a:r>
              <a:rPr lang="en-US" sz="1200" dirty="0">
                <a:solidFill>
                  <a:srgbClr val="00B050"/>
                </a:solidFill>
              </a:rPr>
              <a:t>A: New Card Visual</a:t>
            </a:r>
          </a:p>
          <a:p>
            <a:r>
              <a:rPr lang="en-US" sz="1200" dirty="0">
                <a:solidFill>
                  <a:srgbClr val="00B050"/>
                </a:solidFill>
              </a:rPr>
              <a:t>B: Reference Card</a:t>
            </a:r>
          </a:p>
          <a:p>
            <a:r>
              <a:rPr lang="en-US" sz="1200" dirty="0">
                <a:solidFill>
                  <a:srgbClr val="00B050"/>
                </a:solidFill>
              </a:rPr>
              <a:t>C: Clustered Bar Chart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Colors match Sac County Airport report branding.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8955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B35A04-6F1A-3511-3FB0-5C4DC25267CC}"/>
              </a:ext>
            </a:extLst>
          </p:cNvPr>
          <p:cNvSpPr txBox="1"/>
          <p:nvPr/>
        </p:nvSpPr>
        <p:spPr>
          <a:xfrm>
            <a:off x="132348" y="78205"/>
            <a:ext cx="10735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Network Support Analysis – Service Outage Incidents Report in Power BI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BBADA5-9235-1CC8-67A2-7D33571F0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36" y="431534"/>
            <a:ext cx="9883943" cy="55519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CAE582-2578-0AD0-878E-46ACD31349C1}"/>
              </a:ext>
            </a:extLst>
          </p:cNvPr>
          <p:cNvSpPr txBox="1"/>
          <p:nvPr/>
        </p:nvSpPr>
        <p:spPr>
          <a:xfrm>
            <a:off x="10184732" y="577516"/>
            <a:ext cx="200726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Analysis of Network</a:t>
            </a:r>
          </a:p>
          <a:p>
            <a:r>
              <a:rPr lang="en-US" sz="1200" b="1" dirty="0"/>
              <a:t>Service Outage Incidents</a:t>
            </a:r>
          </a:p>
          <a:p>
            <a:endParaRPr lang="en-US" sz="1200" dirty="0"/>
          </a:p>
          <a:p>
            <a:r>
              <a:rPr lang="en-US" sz="1200" b="1" dirty="0"/>
              <a:t>Company</a:t>
            </a:r>
            <a:r>
              <a:rPr lang="en-US" sz="1200" dirty="0"/>
              <a:t>: PacketFabric</a:t>
            </a:r>
          </a:p>
          <a:p>
            <a:endParaRPr lang="en-US" sz="1200" dirty="0"/>
          </a:p>
          <a:p>
            <a:r>
              <a:rPr lang="en-US" sz="1200" b="1" dirty="0"/>
              <a:t>Features</a:t>
            </a:r>
            <a:r>
              <a:rPr lang="en-US" sz="1200" dirty="0"/>
              <a:t>: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Cards</a:t>
            </a:r>
            <a:r>
              <a:rPr lang="en-US" sz="1200" dirty="0"/>
              <a:t> for Key Support Metrics: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Total Incidents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Avg Downtime (in minutes)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Slicer</a:t>
            </a:r>
            <a:r>
              <a:rPr lang="en-US" sz="1200" dirty="0"/>
              <a:t> for Year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Bar Charts </a:t>
            </a:r>
            <a:r>
              <a:rPr lang="en-US" sz="1200" dirty="0"/>
              <a:t>show totals: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by Problem Description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By Point-of-Presence (</a:t>
            </a:r>
            <a:r>
              <a:rPr lang="en-US" sz="1200" dirty="0" err="1"/>
              <a:t>PoP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Column Chart shows: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Over Time (with date hierarchy for drilldown)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Table</a:t>
            </a:r>
            <a:r>
              <a:rPr lang="en-US" sz="1200" dirty="0"/>
              <a:t> shows incident details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Colors match PacketFabric</a:t>
            </a:r>
          </a:p>
          <a:p>
            <a:r>
              <a:rPr lang="en-US" sz="1200" dirty="0"/>
              <a:t>Branding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80383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E2BCB8-A56E-9E46-362E-EE8DF49AD682}"/>
              </a:ext>
            </a:extLst>
          </p:cNvPr>
          <p:cNvSpPr txBox="1"/>
          <p:nvPr/>
        </p:nvSpPr>
        <p:spPr>
          <a:xfrm>
            <a:off x="132348" y="78205"/>
            <a:ext cx="10735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California Wildfires and Structure Damage – (Oct 2017 – Oct 2024) in Power BI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53FF6-2096-CB3C-B5FC-AC04042EEF07}"/>
              </a:ext>
            </a:extLst>
          </p:cNvPr>
          <p:cNvSpPr txBox="1"/>
          <p:nvPr/>
        </p:nvSpPr>
        <p:spPr>
          <a:xfrm>
            <a:off x="10184732" y="577516"/>
            <a:ext cx="200726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Analysis of California Wildfires and Structure</a:t>
            </a:r>
          </a:p>
          <a:p>
            <a:r>
              <a:rPr lang="en-US" sz="1200" b="1" dirty="0"/>
              <a:t>Damage (Oct 2017 – Oct 2024)</a:t>
            </a:r>
          </a:p>
          <a:p>
            <a:endParaRPr lang="en-US" sz="1200" dirty="0"/>
          </a:p>
          <a:p>
            <a:r>
              <a:rPr lang="en-US" sz="1200" b="1" dirty="0"/>
              <a:t>Dataset</a:t>
            </a:r>
            <a:r>
              <a:rPr lang="en-US" sz="1200" dirty="0"/>
              <a:t>: 4,190 records</a:t>
            </a:r>
          </a:p>
          <a:p>
            <a:endParaRPr lang="en-US" sz="1200" dirty="0"/>
          </a:p>
          <a:p>
            <a:r>
              <a:rPr lang="en-US" sz="1200" b="1" dirty="0"/>
              <a:t>Features</a:t>
            </a:r>
            <a:r>
              <a:rPr lang="en-US" sz="1200" dirty="0"/>
              <a:t>: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Cards</a:t>
            </a:r>
            <a:r>
              <a:rPr lang="en-US" sz="1200" dirty="0"/>
              <a:t> for Key Support Metrics: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Total Incidents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Total Structures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Total Assessed Value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Bar Charts </a:t>
            </a:r>
            <a:r>
              <a:rPr lang="en-US" sz="1200" dirty="0"/>
              <a:t>show total structures lost: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by Incident 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by Structure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Column Chart </a:t>
            </a:r>
            <a:r>
              <a:rPr lang="en-US" sz="1200" dirty="0"/>
              <a:t>shows data: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Over Time (with date hierarchy for drilldown)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ArcGIS Map </a:t>
            </a:r>
            <a:r>
              <a:rPr lang="en-US" sz="1200" dirty="0"/>
              <a:t>shows fire locations 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CFD0D-B002-7EF5-2BE5-6EB3D7130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37" y="355204"/>
            <a:ext cx="9895974" cy="551113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194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E902-76CD-DEAF-A425-32D6345A5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74" y="365126"/>
            <a:ext cx="11211426" cy="278564"/>
          </a:xfrm>
        </p:spPr>
        <p:txBody>
          <a:bodyPr>
            <a:normAutofit/>
          </a:bodyPr>
          <a:lstStyle/>
          <a:p>
            <a:r>
              <a:rPr lang="en-US" sz="1200" dirty="0">
                <a:latin typeface="+mn-lt"/>
              </a:rPr>
              <a:t>Jira Project Summary - Analysis of Project Issues for OneMain Financial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B1C764-B8CC-885E-F4B1-F47E6DBA8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74" y="643690"/>
            <a:ext cx="9922042" cy="559609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54F975-0E7F-B7E8-3449-23E9DC6685C6}"/>
              </a:ext>
            </a:extLst>
          </p:cNvPr>
          <p:cNvSpPr txBox="1"/>
          <p:nvPr/>
        </p:nvSpPr>
        <p:spPr>
          <a:xfrm>
            <a:off x="10184732" y="577516"/>
            <a:ext cx="200726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Analysis of Jira Issues</a:t>
            </a:r>
          </a:p>
          <a:p>
            <a:endParaRPr lang="en-US" sz="1200" dirty="0"/>
          </a:p>
          <a:p>
            <a:r>
              <a:rPr lang="en-US" sz="1200" b="1" dirty="0"/>
              <a:t>Dataset</a:t>
            </a:r>
            <a:r>
              <a:rPr lang="en-US" sz="1200" dirty="0"/>
              <a:t>: Jira issues for 2023 Year to Date pulled from Snowflake</a:t>
            </a:r>
          </a:p>
          <a:p>
            <a:endParaRPr lang="en-US" sz="1200" dirty="0"/>
          </a:p>
          <a:p>
            <a:r>
              <a:rPr lang="en-US" sz="1200" b="1" dirty="0"/>
              <a:t>Features</a:t>
            </a:r>
            <a:r>
              <a:rPr lang="en-US" sz="1200" dirty="0"/>
              <a:t>: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Cards</a:t>
            </a:r>
            <a:r>
              <a:rPr lang="en-US" sz="1200" dirty="0"/>
              <a:t> for Key Support Metrics: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Total 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Open 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Resolved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Avg Age (Days)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Avg Time to Resolve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Bar Charts </a:t>
            </a:r>
            <a:r>
              <a:rPr lang="en-US" sz="1200" dirty="0"/>
              <a:t>show total issues: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by Component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by Status and Component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Column Chart </a:t>
            </a:r>
            <a:r>
              <a:rPr lang="en-US" sz="1200" dirty="0"/>
              <a:t>shows data: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Over Time (with date hierarchy for drilldown)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Text Boxes </a:t>
            </a:r>
            <a:r>
              <a:rPr lang="en-US" sz="1200" dirty="0"/>
              <a:t>provide help to users on findings and how to use drilldown controls.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7652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39E4B1-0771-E0AB-23BB-6F61320F7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6" y="310862"/>
            <a:ext cx="9974180" cy="545860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D53FAE-3FAB-171E-F18D-FFBE6086D2C8}"/>
              </a:ext>
            </a:extLst>
          </p:cNvPr>
          <p:cNvSpPr txBox="1"/>
          <p:nvPr/>
        </p:nvSpPr>
        <p:spPr>
          <a:xfrm>
            <a:off x="120315" y="-58470"/>
            <a:ext cx="8837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/>
              <a:t>CalPers</a:t>
            </a:r>
            <a:r>
              <a:rPr lang="en-US" sz="1800" dirty="0"/>
              <a:t> Local Contracting Agency Funding (FY 2023)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BBA41-C261-3D03-8BC0-284ADEA852D6}"/>
              </a:ext>
            </a:extLst>
          </p:cNvPr>
          <p:cNvSpPr txBox="1"/>
          <p:nvPr/>
        </p:nvSpPr>
        <p:spPr>
          <a:xfrm>
            <a:off x="10184732" y="210026"/>
            <a:ext cx="200726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Analysis of </a:t>
            </a:r>
            <a:r>
              <a:rPr lang="en-US" sz="1200" b="1" dirty="0" err="1"/>
              <a:t>Calpers</a:t>
            </a:r>
            <a:r>
              <a:rPr lang="en-US" sz="1200" b="1" dirty="0"/>
              <a:t> Contracting Agency Funding</a:t>
            </a:r>
          </a:p>
          <a:p>
            <a:endParaRPr lang="en-US" sz="1200" dirty="0"/>
          </a:p>
          <a:p>
            <a:r>
              <a:rPr lang="en-US" sz="1200" b="1" dirty="0"/>
              <a:t>Dataset</a:t>
            </a:r>
            <a:r>
              <a:rPr lang="en-US" sz="1200" dirty="0"/>
              <a:t>: Funding positions of </a:t>
            </a:r>
            <a:r>
              <a:rPr lang="en-US" sz="1200" dirty="0" err="1"/>
              <a:t>CalPers</a:t>
            </a:r>
            <a:r>
              <a:rPr lang="en-US" sz="1200" dirty="0"/>
              <a:t> Contracting Agencies for FY 2023</a:t>
            </a:r>
          </a:p>
          <a:p>
            <a:endParaRPr lang="en-US" sz="1200" dirty="0"/>
          </a:p>
          <a:p>
            <a:r>
              <a:rPr lang="en-US" sz="1200" b="1" dirty="0"/>
              <a:t>Features</a:t>
            </a:r>
            <a:r>
              <a:rPr lang="en-US" sz="1200" dirty="0"/>
              <a:t>: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Cards</a:t>
            </a:r>
            <a:r>
              <a:rPr lang="en-US" sz="1200" dirty="0"/>
              <a:t> for Key Metrics:</a:t>
            </a:r>
          </a:p>
          <a:p>
            <a:endParaRPr lang="en-US" sz="1200" dirty="0"/>
          </a:p>
          <a:p>
            <a:r>
              <a:rPr lang="en-US" sz="1200" dirty="0"/>
              <a:t>Total and Average: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Actuarial Liabilities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Asset Market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Unfunded Liabilities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0070C0"/>
                </a:solidFill>
              </a:rPr>
              <a:t>Bar Charts </a:t>
            </a:r>
            <a:r>
              <a:rPr lang="en-US" sz="1200" dirty="0"/>
              <a:t>show totals by Employer for: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Actuarial Liabilities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Asset Market 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Unfunded Liabilities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825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2135F9-8FEC-F782-FE3D-04E327F83F2C}"/>
              </a:ext>
            </a:extLst>
          </p:cNvPr>
          <p:cNvSpPr txBox="1"/>
          <p:nvPr/>
        </p:nvSpPr>
        <p:spPr>
          <a:xfrm>
            <a:off x="372985" y="73223"/>
            <a:ext cx="10934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Dataset: </a:t>
            </a:r>
            <a:r>
              <a:rPr lang="en-US" sz="1400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Game Sales Analysis</a:t>
            </a:r>
            <a:r>
              <a:rPr lang="en-US" sz="1400" dirty="0">
                <a:solidFill>
                  <a:srgbClr val="FFC000"/>
                </a:solidFill>
              </a:rPr>
              <a:t> </a:t>
            </a:r>
            <a:r>
              <a:rPr lang="en-US" sz="1400" dirty="0"/>
              <a:t>with data of top selling titles by region for 20 year span: 1996 – 2016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32FB6E-9F5C-2B7F-BBEB-E299E8D32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85" y="454866"/>
            <a:ext cx="10616748" cy="62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03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595-472A-A99B-B4A2-D80983C4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43934"/>
            <a:ext cx="10353762" cy="295453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International Skating Union (ISU) Ice Skating Competition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93224-3EC0-D4AC-BE21-6E3E8B394E92}"/>
              </a:ext>
            </a:extLst>
          </p:cNvPr>
          <p:cNvSpPr txBox="1"/>
          <p:nvPr/>
        </p:nvSpPr>
        <p:spPr>
          <a:xfrm>
            <a:off x="986853" y="439387"/>
            <a:ext cx="10934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Dataset: </a:t>
            </a:r>
            <a:r>
              <a:rPr lang="en-US" sz="1400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ISU Skating Competition Analysis</a:t>
            </a:r>
            <a:r>
              <a:rPr lang="en-US" sz="1400" dirty="0">
                <a:solidFill>
                  <a:srgbClr val="FFC000"/>
                </a:solidFill>
              </a:rPr>
              <a:t> </a:t>
            </a:r>
            <a:r>
              <a:rPr lang="en-US" sz="1400" dirty="0"/>
              <a:t>from BuzzFeed News with data from Oct 2016 – Dec 2017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5EBF8B-C58D-0EE7-AA5F-5B4C87A4B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00" y="782754"/>
            <a:ext cx="10516057" cy="593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32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9D9E72-6F87-335B-BB51-39F33813C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67" y="807538"/>
            <a:ext cx="10617200" cy="58472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743ADA-83B1-6065-C952-8E41453EF6E4}"/>
              </a:ext>
            </a:extLst>
          </p:cNvPr>
          <p:cNvSpPr txBox="1"/>
          <p:nvPr/>
        </p:nvSpPr>
        <p:spPr>
          <a:xfrm>
            <a:off x="322185" y="143935"/>
            <a:ext cx="10934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Dataset: </a:t>
            </a:r>
            <a:r>
              <a:rPr lang="en-US" sz="1400" dirty="0">
                <a:solidFill>
                  <a:srgbClr val="FFC000"/>
                </a:solidFill>
              </a:rPr>
              <a:t>Adventure Works </a:t>
            </a:r>
            <a:r>
              <a:rPr lang="en-US" sz="1400" dirty="0"/>
              <a:t>for SQL Server 2022</a:t>
            </a:r>
            <a:r>
              <a:rPr lang="en-US" sz="1400" dirty="0">
                <a:solidFill>
                  <a:srgbClr val="FFC000"/>
                </a:solidFill>
              </a:rPr>
              <a:t> </a:t>
            </a:r>
            <a:r>
              <a:rPr lang="en-US" sz="1400" dirty="0"/>
              <a:t>with sample data for almost 58,000 sales records</a:t>
            </a:r>
          </a:p>
        </p:txBody>
      </p:sp>
    </p:spTree>
    <p:extLst>
      <p:ext uri="{BB962C8B-B14F-4D97-AF65-F5344CB8AC3E}">
        <p14:creationId xmlns:p14="http://schemas.microsoft.com/office/powerpoint/2010/main" val="29567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D869-50ED-6803-82CF-D6980024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67" y="143733"/>
            <a:ext cx="10644299" cy="592867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C000"/>
                </a:solidFill>
              </a:rPr>
              <a:t>Power BI</a:t>
            </a:r>
            <a:r>
              <a:rPr lang="en-US" sz="1800" dirty="0"/>
              <a:t>: </a:t>
            </a:r>
            <a:r>
              <a:rPr lang="en-US" sz="1800" dirty="0">
                <a:solidFill>
                  <a:schemeClr val="tx1"/>
                </a:solidFill>
              </a:rPr>
              <a:t>Maven Market Financial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7B943-1875-33B2-D8A5-DEBC99AAA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67" y="736600"/>
            <a:ext cx="10644299" cy="602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82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883D3-F2B7-A08F-62EE-ACC92DBB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95" y="220133"/>
            <a:ext cx="10353762" cy="491067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C000"/>
                </a:solidFill>
              </a:rPr>
              <a:t>Tableau</a:t>
            </a:r>
            <a:r>
              <a:rPr lang="en-US" sz="1800" dirty="0"/>
              <a:t>: Netflix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DD59A-48F8-88EA-6062-C6DA64D2B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781" y="836988"/>
            <a:ext cx="9134858" cy="55976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E29553-0AC5-ADE1-A40E-8C609194DED4}"/>
              </a:ext>
            </a:extLst>
          </p:cNvPr>
          <p:cNvSpPr txBox="1"/>
          <p:nvPr/>
        </p:nvSpPr>
        <p:spPr>
          <a:xfrm>
            <a:off x="203200" y="1193800"/>
            <a:ext cx="2489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dashboard is</a:t>
            </a:r>
          </a:p>
          <a:p>
            <a:r>
              <a:rPr lang="en-US" dirty="0"/>
              <a:t>available on Tableau</a:t>
            </a:r>
          </a:p>
          <a:p>
            <a:r>
              <a:rPr lang="en-US" dirty="0"/>
              <a:t>Public at </a:t>
            </a:r>
            <a:r>
              <a:rPr lang="en-US" dirty="0">
                <a:hlinkClick r:id="rId3"/>
              </a:rPr>
              <a:t>https://public.tableau.com/app/profile/brian.vineyard/viz/netflix_16879639661060/Netflix</a:t>
            </a:r>
            <a:endParaRPr lang="en-US" dirty="0"/>
          </a:p>
          <a:p>
            <a:endParaRPr lang="en-US" dirty="0"/>
          </a:p>
          <a:p>
            <a:r>
              <a:rPr lang="en-US" dirty="0"/>
              <a:t>View Netflix</a:t>
            </a:r>
          </a:p>
          <a:p>
            <a:r>
              <a:rPr lang="en-US" dirty="0"/>
              <a:t>Movies and TV Shows</a:t>
            </a:r>
          </a:p>
          <a:p>
            <a:r>
              <a:rPr lang="en-US" dirty="0"/>
              <a:t>and select countries</a:t>
            </a:r>
          </a:p>
          <a:p>
            <a:r>
              <a:rPr lang="en-US" dirty="0"/>
              <a:t>using the world map to</a:t>
            </a:r>
          </a:p>
          <a:p>
            <a:r>
              <a:rPr lang="en-US" dirty="0"/>
              <a:t>see the most popular results in that region.</a:t>
            </a:r>
          </a:p>
        </p:txBody>
      </p:sp>
    </p:spTree>
    <p:extLst>
      <p:ext uri="{BB962C8B-B14F-4D97-AF65-F5344CB8AC3E}">
        <p14:creationId xmlns:p14="http://schemas.microsoft.com/office/powerpoint/2010/main" val="1566980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18E92-6514-0F2D-F92A-D10669671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919" y="93133"/>
            <a:ext cx="10353762" cy="4572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C000"/>
                </a:solidFill>
              </a:rPr>
              <a:t>Excel</a:t>
            </a:r>
            <a:r>
              <a:rPr lang="en-US" sz="1800" dirty="0">
                <a:solidFill>
                  <a:schemeClr val="tx1"/>
                </a:solidFill>
              </a:rPr>
              <a:t>: Superstore Financials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812DD-2678-C427-DC2C-21FA1B988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3" y="1165183"/>
            <a:ext cx="11853334" cy="54701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DCB56B-906B-790C-DD9E-C134DF0820BB}"/>
              </a:ext>
            </a:extLst>
          </p:cNvPr>
          <p:cNvSpPr txBox="1"/>
          <p:nvPr/>
        </p:nvSpPr>
        <p:spPr>
          <a:xfrm>
            <a:off x="194733" y="673092"/>
            <a:ext cx="9724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Note:</a:t>
            </a:r>
            <a:r>
              <a:rPr lang="en-US" b="1" dirty="0"/>
              <a:t> </a:t>
            </a:r>
            <a:r>
              <a:rPr lang="en-US" dirty="0"/>
              <a:t>Modeling based on Category / Subcategory shows the most and least profitable products. </a:t>
            </a:r>
          </a:p>
        </p:txBody>
      </p:sp>
    </p:spTree>
    <p:extLst>
      <p:ext uri="{BB962C8B-B14F-4D97-AF65-F5344CB8AC3E}">
        <p14:creationId xmlns:p14="http://schemas.microsoft.com/office/powerpoint/2010/main" val="165121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C978-0C61-4020-F951-654A0599D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81000"/>
            <a:ext cx="10353762" cy="584200"/>
          </a:xfrm>
        </p:spPr>
        <p:txBody>
          <a:bodyPr>
            <a:normAutofit/>
          </a:bodyPr>
          <a:lstStyle/>
          <a:p>
            <a:r>
              <a:rPr lang="en-US" sz="2400" dirty="0"/>
              <a:t>SQL: SQL Server, SSMS, Azure Data Studio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B1770-FB30-4EA2-22CB-08160A859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467" y="1193800"/>
            <a:ext cx="7306733" cy="5480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49C199-67F8-3A12-625B-070305500D04}"/>
              </a:ext>
            </a:extLst>
          </p:cNvPr>
          <p:cNvSpPr txBox="1"/>
          <p:nvPr/>
        </p:nvSpPr>
        <p:spPr>
          <a:xfrm>
            <a:off x="118533" y="1447800"/>
            <a:ext cx="44252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query is in an Azure Data Studio notebook connected to the </a:t>
            </a:r>
            <a:r>
              <a:rPr lang="en-US" dirty="0">
                <a:solidFill>
                  <a:srgbClr val="FFC000"/>
                </a:solidFill>
              </a:rPr>
              <a:t>Northwind</a:t>
            </a:r>
            <a:r>
              <a:rPr lang="en-US" dirty="0"/>
              <a:t> database in SQL Server.</a:t>
            </a:r>
          </a:p>
          <a:p>
            <a:endParaRPr lang="en-US" dirty="0"/>
          </a:p>
          <a:p>
            <a:r>
              <a:rPr lang="en-US" dirty="0"/>
              <a:t>This returns the </a:t>
            </a:r>
            <a:r>
              <a:rPr lang="en-US" dirty="0">
                <a:solidFill>
                  <a:srgbClr val="FFC000"/>
                </a:solidFill>
              </a:rPr>
              <a:t>CustomerID</a:t>
            </a:r>
            <a:r>
              <a:rPr lang="en-US" dirty="0"/>
              <a:t>,</a:t>
            </a:r>
          </a:p>
          <a:p>
            <a:r>
              <a:rPr lang="en-US" dirty="0">
                <a:solidFill>
                  <a:srgbClr val="FFC000"/>
                </a:solidFill>
              </a:rPr>
              <a:t>CompanyName</a:t>
            </a:r>
            <a:r>
              <a:rPr lang="en-US" dirty="0"/>
              <a:t> and </a:t>
            </a:r>
            <a:r>
              <a:rPr lang="en-US" dirty="0">
                <a:solidFill>
                  <a:srgbClr val="FFC000"/>
                </a:solidFill>
              </a:rPr>
              <a:t>TotalOrderAmount</a:t>
            </a:r>
          </a:p>
          <a:p>
            <a:r>
              <a:rPr lang="en-US" dirty="0"/>
              <a:t>for orders with totals greater than $15,000</a:t>
            </a:r>
          </a:p>
          <a:p>
            <a:r>
              <a:rPr lang="en-US" dirty="0"/>
              <a:t>in 2016.</a:t>
            </a:r>
          </a:p>
          <a:p>
            <a:endParaRPr lang="en-US" dirty="0"/>
          </a:p>
          <a:p>
            <a:r>
              <a:rPr lang="en-US" dirty="0"/>
              <a:t>Results can be saved as a .CSV file, or </a:t>
            </a:r>
          </a:p>
          <a:p>
            <a:r>
              <a:rPr lang="en-US" dirty="0"/>
              <a:t>produced as visual charts.</a:t>
            </a:r>
          </a:p>
          <a:p>
            <a:endParaRPr lang="en-US" dirty="0"/>
          </a:p>
          <a:p>
            <a:r>
              <a:rPr lang="en-US" dirty="0">
                <a:solidFill>
                  <a:srgbClr val="FFC000"/>
                </a:solidFill>
              </a:rPr>
              <a:t>Azure Data Studio</a:t>
            </a:r>
            <a:r>
              <a:rPr lang="en-US" dirty="0"/>
              <a:t> is a free tool and with</a:t>
            </a:r>
          </a:p>
          <a:p>
            <a:r>
              <a:rPr lang="en-US" dirty="0"/>
              <a:t>Python and Jupyter Notebooks are a great way to do analysis at no cost.</a:t>
            </a:r>
          </a:p>
          <a:p>
            <a:endParaRPr lang="en-US" dirty="0"/>
          </a:p>
          <a:p>
            <a:r>
              <a:rPr lang="en-US" dirty="0"/>
              <a:t>These tools also handle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454479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8A9C-CAFE-9B92-6D2E-FA480C29E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328" y="220134"/>
            <a:ext cx="10353762" cy="448733"/>
          </a:xfrm>
        </p:spPr>
        <p:txBody>
          <a:bodyPr>
            <a:noAutofit/>
          </a:bodyPr>
          <a:lstStyle/>
          <a:p>
            <a:r>
              <a:rPr lang="en-US" sz="2400" dirty="0"/>
              <a:t>Report Visualizations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A30AB-F3BB-293C-0320-CC9EAD7F9AD6}"/>
              </a:ext>
            </a:extLst>
          </p:cNvPr>
          <p:cNvSpPr txBox="1"/>
          <p:nvPr/>
        </p:nvSpPr>
        <p:spPr>
          <a:xfrm>
            <a:off x="151709" y="622366"/>
            <a:ext cx="4334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Line chart showing results over time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5C2A98-1F7C-F19D-0D63-B7C1F9DE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38" y="976644"/>
            <a:ext cx="5873934" cy="25223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D3AB67-7237-9633-CF5C-E49346811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549" y="930144"/>
            <a:ext cx="4181535" cy="54893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EE99C7-4C8A-6AF5-766D-955B86DBB979}"/>
              </a:ext>
            </a:extLst>
          </p:cNvPr>
          <p:cNvSpPr txBox="1"/>
          <p:nvPr/>
        </p:nvSpPr>
        <p:spPr>
          <a:xfrm>
            <a:off x="10776084" y="930143"/>
            <a:ext cx="13287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Calendar heat map showing daily case volume,</a:t>
            </a:r>
            <a:br>
              <a:rPr lang="en-US" sz="1400" dirty="0"/>
            </a:br>
            <a:r>
              <a:rPr lang="en-US" sz="1400" dirty="0"/>
              <a:t>company holidays, daily &amp; weekly averages.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74E1A-23F0-B565-5B49-5A91C06E6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76" y="4459589"/>
            <a:ext cx="6140103" cy="19598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7D3156-A636-FF4E-5543-39B7617A3B49}"/>
              </a:ext>
            </a:extLst>
          </p:cNvPr>
          <p:cNvSpPr txBox="1"/>
          <p:nvPr/>
        </p:nvSpPr>
        <p:spPr>
          <a:xfrm>
            <a:off x="234938" y="4043756"/>
            <a:ext cx="3812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Bar chart showing categorical data comparison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8047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62135F9-8FEC-F782-FE3D-04E327F83F2C}"/>
              </a:ext>
            </a:extLst>
          </p:cNvPr>
          <p:cNvSpPr txBox="1"/>
          <p:nvPr/>
        </p:nvSpPr>
        <p:spPr>
          <a:xfrm>
            <a:off x="372985" y="73223"/>
            <a:ext cx="10934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Dataset: </a:t>
            </a:r>
            <a:r>
              <a:rPr lang="en-US" sz="1400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Jira IT Service Desk Analysis</a:t>
            </a:r>
            <a:r>
              <a:rPr lang="en-US" sz="1400" dirty="0">
                <a:solidFill>
                  <a:srgbClr val="FFC000"/>
                </a:solidFill>
              </a:rPr>
              <a:t> </a:t>
            </a:r>
            <a:r>
              <a:rPr lang="en-US" sz="1400" dirty="0"/>
              <a:t>with sample data for over 1,500 issues from Dec 2018 – Sep 2020</a:t>
            </a:r>
          </a:p>
        </p:txBody>
      </p:sp>
    </p:spTree>
    <p:extLst>
      <p:ext uri="{BB962C8B-B14F-4D97-AF65-F5344CB8AC3E}">
        <p14:creationId xmlns:p14="http://schemas.microsoft.com/office/powerpoint/2010/main" val="2623737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7302</TotalTime>
  <Words>925</Words>
  <Application>Microsoft Office PowerPoint</Application>
  <PresentationFormat>Widescreen</PresentationFormat>
  <Paragraphs>218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Brian Vineyard</vt:lpstr>
      <vt:lpstr>Skills and Experience</vt:lpstr>
      <vt:lpstr>Work Samples</vt:lpstr>
      <vt:lpstr>PowerPoint Presentation</vt:lpstr>
      <vt:lpstr>PowerPoint Presentation</vt:lpstr>
      <vt:lpstr>PowerPoint Presentation</vt:lpstr>
      <vt:lpstr>Jira Project Summary - Analysis of Project Issues for OneMain Financial </vt:lpstr>
      <vt:lpstr>PowerPoint Presentation</vt:lpstr>
      <vt:lpstr>PowerPoint Presentation</vt:lpstr>
      <vt:lpstr>International Skating Union (ISU) Ice Skating Competition Analysis</vt:lpstr>
      <vt:lpstr>PowerPoint Presentation</vt:lpstr>
      <vt:lpstr>Power BI: Maven Market Financial Report</vt:lpstr>
      <vt:lpstr>Tableau: Netflix Data</vt:lpstr>
      <vt:lpstr>Excel: Superstore Financials</vt:lpstr>
      <vt:lpstr>SQL: SQL Server, SSMS, Azure Data Studio</vt:lpstr>
      <vt:lpstr>Report Visualizations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Brian Vineyard</dc:title>
  <dc:creator>Brian Vineyard</dc:creator>
  <cp:lastModifiedBy>Brian Vineyard</cp:lastModifiedBy>
  <cp:revision>3</cp:revision>
  <dcterms:created xsi:type="dcterms:W3CDTF">2023-08-01T22:41:47Z</dcterms:created>
  <dcterms:modified xsi:type="dcterms:W3CDTF">2025-12-26T22:12:57Z</dcterms:modified>
</cp:coreProperties>
</file>